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61" r:id="rId4"/>
    <p:sldId id="258" r:id="rId5"/>
    <p:sldId id="259" r:id="rId6"/>
    <p:sldId id="264" r:id="rId7"/>
    <p:sldId id="262" r:id="rId8"/>
    <p:sldId id="263" r:id="rId9"/>
    <p:sldId id="260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2881" autoAdjust="0"/>
  </p:normalViewPr>
  <p:slideViewPr>
    <p:cSldViewPr snapToGrid="0">
      <p:cViewPr varScale="1">
        <p:scale>
          <a:sx n="94" d="100"/>
          <a:sy n="94" d="100"/>
        </p:scale>
        <p:origin x="11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4F9DCB-2365-4CED-BEA7-15491053493F}" type="datetimeFigureOut">
              <a:rPr lang="en-SE" smtClean="0"/>
              <a:t>2025-12-15</a:t>
            </a:fld>
            <a:endParaRPr lang="en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F4CAF8-4ED8-4AD6-910B-A4E8E4B16727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081952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EBSS </a:t>
            </a:r>
            <a:r>
              <a:rPr lang="en-IN" b="1" dirty="0"/>
              <a:t>Pipeline</a:t>
            </a:r>
            <a:r>
              <a:rPr lang="en-IN" b="0" dirty="0"/>
              <a:t>:</a:t>
            </a:r>
          </a:p>
          <a:p>
            <a:r>
              <a:rPr lang="en-IN" b="0" dirty="0"/>
              <a:t>- Chunk patent documents (claims, abstract, description) -&gt; completed. To be optimized</a:t>
            </a:r>
          </a:p>
          <a:p>
            <a:r>
              <a:rPr lang="en-IN" b="0" dirty="0"/>
              <a:t>- Generate embeddings (e.g., sentence-level or claim-level) -&gt; Completed. To be improved (TF:ID to </a:t>
            </a:r>
            <a:r>
              <a:rPr lang="en-IN" b="0" dirty="0" err="1"/>
              <a:t>Gpt</a:t>
            </a:r>
            <a:r>
              <a:rPr lang="en-IN" b="0" dirty="0"/>
              <a:t>)</a:t>
            </a:r>
          </a:p>
          <a:p>
            <a:r>
              <a:rPr lang="en-IN" b="0" dirty="0"/>
              <a:t>- Store in a vector database -&gt; In Progress</a:t>
            </a:r>
          </a:p>
          <a:p>
            <a:r>
              <a:rPr lang="en-IN" b="0" dirty="0"/>
              <a:t>- Compare new patent embeddings against fetched patents -&gt; completed</a:t>
            </a:r>
          </a:p>
          <a:p>
            <a:r>
              <a:rPr lang="en-IN" b="0" dirty="0"/>
              <a:t>- Compute cosine similarity -&gt; completed</a:t>
            </a:r>
          </a:p>
          <a:p>
            <a:r>
              <a:rPr lang="en-IN" b="0" dirty="0"/>
              <a:t>- Filter results ≥ 80% -&gt; completed</a:t>
            </a:r>
          </a:p>
          <a:p>
            <a:r>
              <a:rPr lang="en-IN" b="0" dirty="0"/>
              <a:t>- Only then generate reports -&gt; in progress</a:t>
            </a:r>
          </a:p>
          <a:p>
            <a:endParaRPr lang="en-US" b="0" dirty="0"/>
          </a:p>
          <a:p>
            <a:r>
              <a:rPr lang="en-US" b="0" dirty="0"/>
              <a:t>Why </a:t>
            </a:r>
            <a:r>
              <a:rPr lang="en-US" b="1" dirty="0"/>
              <a:t>EBSS </a:t>
            </a:r>
            <a:r>
              <a:rPr lang="en-US" b="0" dirty="0"/>
              <a:t>is Ideal:</a:t>
            </a:r>
          </a:p>
          <a:p>
            <a:r>
              <a:rPr lang="en-US" dirty="0"/>
              <a:t>- Deterministic similarity scores</a:t>
            </a:r>
          </a:p>
          <a:p>
            <a:r>
              <a:rPr lang="en-US" dirty="0"/>
              <a:t>- Scales well</a:t>
            </a:r>
          </a:p>
          <a:p>
            <a:r>
              <a:rPr lang="en-US" dirty="0"/>
              <a:t>- Easy to explain and audit (important for legal/IP)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F4CAF8-4ED8-4AD6-910B-A4E8E4B16727}" type="slidenum">
              <a:rPr lang="en-SE" smtClean="0"/>
              <a:t>6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503800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27E8-96D4-4745-814F-71518450DD23}" type="datetimeFigureOut">
              <a:rPr lang="en-SE" smtClean="0"/>
              <a:t>2025-12-15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875A7-ED9B-4B8B-9CD8-77037D5DF5B3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380020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27E8-96D4-4745-814F-71518450DD23}" type="datetimeFigureOut">
              <a:rPr lang="en-SE" smtClean="0"/>
              <a:t>2025-12-15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875A7-ED9B-4B8B-9CD8-77037D5DF5B3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638137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27E8-96D4-4745-814F-71518450DD23}" type="datetimeFigureOut">
              <a:rPr lang="en-SE" smtClean="0"/>
              <a:t>2025-12-15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875A7-ED9B-4B8B-9CD8-77037D5DF5B3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90016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27E8-96D4-4745-814F-71518450DD23}" type="datetimeFigureOut">
              <a:rPr lang="en-SE" smtClean="0"/>
              <a:t>2025-12-15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875A7-ED9B-4B8B-9CD8-77037D5DF5B3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122308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27E8-96D4-4745-814F-71518450DD23}" type="datetimeFigureOut">
              <a:rPr lang="en-SE" smtClean="0"/>
              <a:t>2025-12-15</a:t>
            </a:fld>
            <a:endParaRPr lang="en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875A7-ED9B-4B8B-9CD8-77037D5DF5B3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67461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27E8-96D4-4745-814F-71518450DD23}" type="datetimeFigureOut">
              <a:rPr lang="en-SE" smtClean="0"/>
              <a:t>2025-12-15</a:t>
            </a:fld>
            <a:endParaRPr lang="en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875A7-ED9B-4B8B-9CD8-77037D5DF5B3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672516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27E8-96D4-4745-814F-71518450DD23}" type="datetimeFigureOut">
              <a:rPr lang="en-SE" smtClean="0"/>
              <a:t>2025-12-15</a:t>
            </a:fld>
            <a:endParaRPr lang="en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875A7-ED9B-4B8B-9CD8-77037D5DF5B3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104341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27E8-96D4-4745-814F-71518450DD23}" type="datetimeFigureOut">
              <a:rPr lang="en-SE" smtClean="0"/>
              <a:t>2025-12-15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875A7-ED9B-4B8B-9CD8-77037D5DF5B3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156642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27E8-96D4-4745-814F-71518450DD23}" type="datetimeFigureOut">
              <a:rPr lang="en-SE" smtClean="0"/>
              <a:t>2025-12-15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875A7-ED9B-4B8B-9CD8-77037D5DF5B3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401709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27E8-96D4-4745-814F-71518450DD23}" type="datetimeFigureOut">
              <a:rPr lang="en-SE" smtClean="0"/>
              <a:t>2025-12-15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875A7-ED9B-4B8B-9CD8-77037D5DF5B3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595820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27E8-96D4-4745-814F-71518450DD23}" type="datetimeFigureOut">
              <a:rPr lang="en-SE" smtClean="0"/>
              <a:t>2025-12-15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875A7-ED9B-4B8B-9CD8-77037D5DF5B3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401355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27E8-96D4-4745-814F-71518450DD23}" type="datetimeFigureOut">
              <a:rPr lang="en-SE" smtClean="0"/>
              <a:t>2025-12-15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875A7-ED9B-4B8B-9CD8-77037D5DF5B3}" type="slidenum">
              <a:rPr lang="en-SE" smtClean="0"/>
              <a:t>‹#›</a:t>
            </a:fld>
            <a:endParaRPr lang="en-SE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728688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27E8-96D4-4745-814F-71518450DD23}" type="datetimeFigureOut">
              <a:rPr lang="en-SE" smtClean="0"/>
              <a:t>2025-12-15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875A7-ED9B-4B8B-9CD8-77037D5DF5B3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8320842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27E8-96D4-4745-814F-71518450DD23}" type="datetimeFigureOut">
              <a:rPr lang="en-SE" smtClean="0"/>
              <a:t>2025-12-15</a:t>
            </a:fld>
            <a:endParaRPr lang="en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875A7-ED9B-4B8B-9CD8-77037D5DF5B3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0451134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27E8-96D4-4745-814F-71518450DD23}" type="datetimeFigureOut">
              <a:rPr lang="en-SE" smtClean="0"/>
              <a:t>2025-12-15</a:t>
            </a:fld>
            <a:endParaRPr lang="en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875A7-ED9B-4B8B-9CD8-77037D5DF5B3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1463136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27E8-96D4-4745-814F-71518450DD23}" type="datetimeFigureOut">
              <a:rPr lang="en-SE" smtClean="0"/>
              <a:t>2025-12-15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875A7-ED9B-4B8B-9CD8-77037D5DF5B3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350974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27E8-96D4-4745-814F-71518450DD23}" type="datetimeFigureOut">
              <a:rPr lang="en-SE" smtClean="0"/>
              <a:t>2025-12-15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875A7-ED9B-4B8B-9CD8-77037D5DF5B3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896341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5B627E8-96D4-4745-814F-71518450DD23}" type="datetimeFigureOut">
              <a:rPr lang="en-SE" smtClean="0"/>
              <a:t>2025-12-15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854875A7-ED9B-4B8B-9CD8-77037D5DF5B3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015502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437D-FD4D-CA70-7C90-B7B0CBFA62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Intelligent Patent Management System with Automated Similarity Analysis</a:t>
            </a:r>
            <a:endParaRPr lang="en-S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1F5E6B-686F-6E33-82ED-AC0D942C5C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Punnoose Kozhuppakalam Thomas</a:t>
            </a:r>
          </a:p>
          <a:p>
            <a:r>
              <a:rPr lang="en-US" dirty="0"/>
              <a:t>Patent Gap AI</a:t>
            </a:r>
            <a:endParaRPr lang="en-S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B51F43-5F15-A94A-6C29-FF38E3137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4947615"/>
            <a:ext cx="1219200" cy="1219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033071-44E7-3DE9-A8EA-075D32A7F3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06" b="89877" l="8436" r="92542">
                        <a14:foregroundMark x1="8436" y1="50615" x2="8436" y2="50615"/>
                        <a14:foregroundMark x1="18781" y1="15980" x2="18781" y2="15980"/>
                        <a14:foregroundMark x1="34038" y1="39696" x2="34038" y2="39696"/>
                        <a14:foregroundMark x1="38040" y1="34490" x2="38040" y2="34490"/>
                        <a14:foregroundMark x1="46589" y1="26392" x2="46589" y2="26392"/>
                        <a14:foregroundMark x1="54388" y1="29863" x2="54388" y2="29863"/>
                        <a14:foregroundMark x1="61301" y1="30441" x2="61301" y2="30441"/>
                        <a14:foregroundMark x1="69850" y1="33912" x2="69850" y2="33912"/>
                        <a14:foregroundMark x1="77103" y1="31598" x2="77103" y2="31598"/>
                        <a14:foregroundMark x1="80377" y1="29863" x2="80377" y2="29863"/>
                        <a14:foregroundMark x1="88199" y1="29863" x2="88199" y2="29863"/>
                        <a14:foregroundMark x1="92542" y1="25235" x2="92542" y2="25235"/>
                        <a14:foregroundMark x1="63120" y1="20029" x2="63120" y2="20029"/>
                        <a14:foregroundMark x1="64575" y1="20029" x2="64575" y2="20029"/>
                        <a14:foregroundMark x1="40950" y1="20029" x2="40950" y2="20029"/>
                        <a14:foregroundMark x1="39495" y1="20029" x2="39495" y2="20029"/>
                        <a14:foregroundMark x1="31878" y1="56978" x2="31878" y2="56978"/>
                        <a14:foregroundMark x1="39131" y1="57556" x2="39131" y2="57556"/>
                        <a14:foregroundMark x1="46953" y1="59291" x2="46953" y2="59291"/>
                        <a14:foregroundMark x1="51501" y1="61605" x2="51501" y2="61605"/>
                        <a14:foregroundMark x1="58026" y1="61605" x2="58026" y2="61605"/>
                        <a14:foregroundMark x1="65302" y1="61027" x2="65302" y2="61027"/>
                        <a14:foregroundMark x1="72374" y1="59870" x2="72374" y2="59870"/>
                        <a14:foregroundMark x1="79104" y1="61027" x2="79104" y2="61027"/>
                        <a14:foregroundMark x1="84015" y1="61027" x2="84015" y2="61027"/>
                        <a14:foregroundMark x1="90723" y1="63341" x2="90723" y2="633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8960" y="203200"/>
            <a:ext cx="1310640" cy="41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566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684F2-1985-ACAD-AD49-26A471398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B59D7-DFEC-11ED-6557-4E787E1749E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Platform for Clients and Patent Attorneys to Match up</a:t>
            </a:r>
          </a:p>
          <a:p>
            <a:r>
              <a:rPr lang="en-US" dirty="0"/>
              <a:t>Similarity Analysis takes Months</a:t>
            </a:r>
          </a:p>
          <a:p>
            <a:r>
              <a:rPr lang="en-US" dirty="0"/>
              <a:t>Patents spread across multiple sources</a:t>
            </a:r>
          </a:p>
          <a:p>
            <a:r>
              <a:rPr lang="en-US" dirty="0"/>
              <a:t>No unified library across countries</a:t>
            </a:r>
          </a:p>
          <a:p>
            <a:r>
              <a:rPr lang="en-US" dirty="0"/>
              <a:t>similarity updates on newly filed patents are costly</a:t>
            </a:r>
            <a:endParaRPr lang="en-S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370C55-0A8A-9AED-3530-B5C467AE2A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217725"/>
            <a:ext cx="737315" cy="7373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EB281A-31DA-1FB7-E775-42094647B2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06" b="89877" l="8436" r="92542">
                        <a14:foregroundMark x1="8436" y1="50615" x2="8436" y2="50615"/>
                        <a14:foregroundMark x1="18781" y1="15980" x2="18781" y2="15980"/>
                        <a14:foregroundMark x1="34038" y1="39696" x2="34038" y2="39696"/>
                        <a14:foregroundMark x1="38040" y1="34490" x2="38040" y2="34490"/>
                        <a14:foregroundMark x1="46589" y1="26392" x2="46589" y2="26392"/>
                        <a14:foregroundMark x1="54388" y1="29863" x2="54388" y2="29863"/>
                        <a14:foregroundMark x1="61301" y1="30441" x2="61301" y2="30441"/>
                        <a14:foregroundMark x1="69850" y1="33912" x2="69850" y2="33912"/>
                        <a14:foregroundMark x1="77103" y1="31598" x2="77103" y2="31598"/>
                        <a14:foregroundMark x1="80377" y1="29863" x2="80377" y2="29863"/>
                        <a14:foregroundMark x1="88199" y1="29863" x2="88199" y2="29863"/>
                        <a14:foregroundMark x1="92542" y1="25235" x2="92542" y2="25235"/>
                        <a14:foregroundMark x1="63120" y1="20029" x2="63120" y2="20029"/>
                        <a14:foregroundMark x1="64575" y1="20029" x2="64575" y2="20029"/>
                        <a14:foregroundMark x1="40950" y1="20029" x2="40950" y2="20029"/>
                        <a14:foregroundMark x1="39495" y1="20029" x2="39495" y2="20029"/>
                        <a14:foregroundMark x1="31878" y1="56978" x2="31878" y2="56978"/>
                        <a14:foregroundMark x1="39131" y1="57556" x2="39131" y2="57556"/>
                        <a14:foregroundMark x1="46953" y1="59291" x2="46953" y2="59291"/>
                        <a14:foregroundMark x1="51501" y1="61605" x2="51501" y2="61605"/>
                        <a14:foregroundMark x1="58026" y1="61605" x2="58026" y2="61605"/>
                        <a14:foregroundMark x1="65302" y1="61027" x2="65302" y2="61027"/>
                        <a14:foregroundMark x1="72374" y1="59870" x2="72374" y2="59870"/>
                        <a14:foregroundMark x1="79104" y1="61027" x2="79104" y2="61027"/>
                        <a14:foregroundMark x1="84015" y1="61027" x2="84015" y2="61027"/>
                        <a14:foregroundMark x1="90723" y1="63341" x2="90723" y2="633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8960" y="203200"/>
            <a:ext cx="1310640" cy="41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689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33C46-AFB6-1A8D-70F1-A985CB441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DC048-A276-5B45-CD31-8476CC62D14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Manual Patent infringement detection is costly</a:t>
            </a:r>
          </a:p>
          <a:p>
            <a:r>
              <a:rPr lang="en-US" dirty="0"/>
              <a:t>Routine infringement detection is resource consuming</a:t>
            </a:r>
          </a:p>
          <a:p>
            <a:r>
              <a:rPr lang="en-US" dirty="0"/>
              <a:t>legal procedures require months of preparations</a:t>
            </a:r>
          </a:p>
          <a:p>
            <a:r>
              <a:rPr lang="en-US" dirty="0"/>
              <a:t>Keeping track of infringement cases can be confusing</a:t>
            </a:r>
          </a:p>
          <a:p>
            <a:r>
              <a:rPr lang="en-US" dirty="0"/>
              <a:t>Proper analysis can be challenging without right domain knowledge</a:t>
            </a:r>
            <a:endParaRPr lang="en-S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C00556-D6DC-809C-7898-FE296265CA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217725"/>
            <a:ext cx="737315" cy="7373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E9E752-465F-E077-9A2D-2DE732229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06" b="89877" l="8436" r="92542">
                        <a14:foregroundMark x1="8436" y1="50615" x2="8436" y2="50615"/>
                        <a14:foregroundMark x1="18781" y1="15980" x2="18781" y2="15980"/>
                        <a14:foregroundMark x1="34038" y1="39696" x2="34038" y2="39696"/>
                        <a14:foregroundMark x1="38040" y1="34490" x2="38040" y2="34490"/>
                        <a14:foregroundMark x1="46589" y1="26392" x2="46589" y2="26392"/>
                        <a14:foregroundMark x1="54388" y1="29863" x2="54388" y2="29863"/>
                        <a14:foregroundMark x1="61301" y1="30441" x2="61301" y2="30441"/>
                        <a14:foregroundMark x1="69850" y1="33912" x2="69850" y2="33912"/>
                        <a14:foregroundMark x1="77103" y1="31598" x2="77103" y2="31598"/>
                        <a14:foregroundMark x1="80377" y1="29863" x2="80377" y2="29863"/>
                        <a14:foregroundMark x1="88199" y1="29863" x2="88199" y2="29863"/>
                        <a14:foregroundMark x1="92542" y1="25235" x2="92542" y2="25235"/>
                        <a14:foregroundMark x1="63120" y1="20029" x2="63120" y2="20029"/>
                        <a14:foregroundMark x1="64575" y1="20029" x2="64575" y2="20029"/>
                        <a14:foregroundMark x1="40950" y1="20029" x2="40950" y2="20029"/>
                        <a14:foregroundMark x1="39495" y1="20029" x2="39495" y2="20029"/>
                        <a14:foregroundMark x1="31878" y1="56978" x2="31878" y2="56978"/>
                        <a14:foregroundMark x1="39131" y1="57556" x2="39131" y2="57556"/>
                        <a14:foregroundMark x1="46953" y1="59291" x2="46953" y2="59291"/>
                        <a14:foregroundMark x1="51501" y1="61605" x2="51501" y2="61605"/>
                        <a14:foregroundMark x1="58026" y1="61605" x2="58026" y2="61605"/>
                        <a14:foregroundMark x1="65302" y1="61027" x2="65302" y2="61027"/>
                        <a14:foregroundMark x1="72374" y1="59870" x2="72374" y2="59870"/>
                        <a14:foregroundMark x1="79104" y1="61027" x2="79104" y2="61027"/>
                        <a14:foregroundMark x1="84015" y1="61027" x2="84015" y2="61027"/>
                        <a14:foregroundMark x1="90723" y1="63341" x2="90723" y2="633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8960" y="203200"/>
            <a:ext cx="1310640" cy="41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472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B7943-B9C7-156C-0111-64B7A1A8B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  <a:endParaRPr lang="en-S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141997-7BF2-4D24-BD22-1C5E3C6446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11" t="11924" r="16206" b="11510"/>
          <a:stretch>
            <a:fillRect/>
          </a:stretch>
        </p:blipFill>
        <p:spPr>
          <a:xfrm>
            <a:off x="2034360" y="1936376"/>
            <a:ext cx="8123279" cy="44554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153BD8-EEAB-E211-CA74-DF4E046CA4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217725"/>
            <a:ext cx="737315" cy="7373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6F3231-E7B7-D65B-E5B2-774503AFFF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06" b="89877" l="8436" r="92542">
                        <a14:foregroundMark x1="8436" y1="50615" x2="8436" y2="50615"/>
                        <a14:foregroundMark x1="18781" y1="15980" x2="18781" y2="15980"/>
                        <a14:foregroundMark x1="34038" y1="39696" x2="34038" y2="39696"/>
                        <a14:foregroundMark x1="38040" y1="34490" x2="38040" y2="34490"/>
                        <a14:foregroundMark x1="46589" y1="26392" x2="46589" y2="26392"/>
                        <a14:foregroundMark x1="54388" y1="29863" x2="54388" y2="29863"/>
                        <a14:foregroundMark x1="61301" y1="30441" x2="61301" y2="30441"/>
                        <a14:foregroundMark x1="69850" y1="33912" x2="69850" y2="33912"/>
                        <a14:foregroundMark x1="77103" y1="31598" x2="77103" y2="31598"/>
                        <a14:foregroundMark x1="80377" y1="29863" x2="80377" y2="29863"/>
                        <a14:foregroundMark x1="88199" y1="29863" x2="88199" y2="29863"/>
                        <a14:foregroundMark x1="92542" y1="25235" x2="92542" y2="25235"/>
                        <a14:foregroundMark x1="63120" y1="20029" x2="63120" y2="20029"/>
                        <a14:foregroundMark x1="64575" y1="20029" x2="64575" y2="20029"/>
                        <a14:foregroundMark x1="40950" y1="20029" x2="40950" y2="20029"/>
                        <a14:foregroundMark x1="39495" y1="20029" x2="39495" y2="20029"/>
                        <a14:foregroundMark x1="31878" y1="56978" x2="31878" y2="56978"/>
                        <a14:foregroundMark x1="39131" y1="57556" x2="39131" y2="57556"/>
                        <a14:foregroundMark x1="46953" y1="59291" x2="46953" y2="59291"/>
                        <a14:foregroundMark x1="51501" y1="61605" x2="51501" y2="61605"/>
                        <a14:foregroundMark x1="58026" y1="61605" x2="58026" y2="61605"/>
                        <a14:foregroundMark x1="65302" y1="61027" x2="65302" y2="61027"/>
                        <a14:foregroundMark x1="72374" y1="59870" x2="72374" y2="59870"/>
                        <a14:foregroundMark x1="79104" y1="61027" x2="79104" y2="61027"/>
                        <a14:foregroundMark x1="84015" y1="61027" x2="84015" y2="61027"/>
                        <a14:foregroundMark x1="90723" y1="63341" x2="90723" y2="633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8960" y="203200"/>
            <a:ext cx="1310640" cy="41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569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F69A5-66E9-4EF5-2B5A-DD18C9848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Features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F5710-B3CA-98EF-382E-B2C2CB25D74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Status Tracking system</a:t>
            </a:r>
            <a:endParaRPr lang="en-SE" dirty="0"/>
          </a:p>
          <a:p>
            <a:r>
              <a:rPr lang="en-US" dirty="0"/>
              <a:t>Automated and Routine Similarity Analysis</a:t>
            </a:r>
          </a:p>
          <a:p>
            <a:r>
              <a:rPr lang="en-US" dirty="0"/>
              <a:t>Context based Similarity Analysis</a:t>
            </a:r>
          </a:p>
          <a:p>
            <a:r>
              <a:rPr lang="en-US" dirty="0"/>
              <a:t>Similarity Reports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E5D4A1-77DD-4924-E5AC-2873661B69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217725"/>
            <a:ext cx="737315" cy="7373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4FBA0D-F633-7C87-9E5D-182A7D9766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06" b="89877" l="8436" r="92542">
                        <a14:foregroundMark x1="8436" y1="50615" x2="8436" y2="50615"/>
                        <a14:foregroundMark x1="18781" y1="15980" x2="18781" y2="15980"/>
                        <a14:foregroundMark x1="34038" y1="39696" x2="34038" y2="39696"/>
                        <a14:foregroundMark x1="38040" y1="34490" x2="38040" y2="34490"/>
                        <a14:foregroundMark x1="46589" y1="26392" x2="46589" y2="26392"/>
                        <a14:foregroundMark x1="54388" y1="29863" x2="54388" y2="29863"/>
                        <a14:foregroundMark x1="61301" y1="30441" x2="61301" y2="30441"/>
                        <a14:foregroundMark x1="69850" y1="33912" x2="69850" y2="33912"/>
                        <a14:foregroundMark x1="77103" y1="31598" x2="77103" y2="31598"/>
                        <a14:foregroundMark x1="80377" y1="29863" x2="80377" y2="29863"/>
                        <a14:foregroundMark x1="88199" y1="29863" x2="88199" y2="29863"/>
                        <a14:foregroundMark x1="92542" y1="25235" x2="92542" y2="25235"/>
                        <a14:foregroundMark x1="63120" y1="20029" x2="63120" y2="20029"/>
                        <a14:foregroundMark x1="64575" y1="20029" x2="64575" y2="20029"/>
                        <a14:foregroundMark x1="40950" y1="20029" x2="40950" y2="20029"/>
                        <a14:foregroundMark x1="39495" y1="20029" x2="39495" y2="20029"/>
                        <a14:foregroundMark x1="31878" y1="56978" x2="31878" y2="56978"/>
                        <a14:foregroundMark x1="39131" y1="57556" x2="39131" y2="57556"/>
                        <a14:foregroundMark x1="46953" y1="59291" x2="46953" y2="59291"/>
                        <a14:foregroundMark x1="51501" y1="61605" x2="51501" y2="61605"/>
                        <a14:foregroundMark x1="58026" y1="61605" x2="58026" y2="61605"/>
                        <a14:foregroundMark x1="65302" y1="61027" x2="65302" y2="61027"/>
                        <a14:foregroundMark x1="72374" y1="59870" x2="72374" y2="59870"/>
                        <a14:foregroundMark x1="79104" y1="61027" x2="79104" y2="61027"/>
                        <a14:foregroundMark x1="84015" y1="61027" x2="84015" y2="61027"/>
                        <a14:foregroundMark x1="90723" y1="63341" x2="90723" y2="633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8960" y="203200"/>
            <a:ext cx="1310640" cy="41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04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BA4CD-4E95-620F-6CC6-17AEF574E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Currently in Progress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580CF-3964-6BD7-A7BA-41FE5C67FE0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Model Design (Embedding based Semantic Similarity)</a:t>
            </a:r>
          </a:p>
          <a:p>
            <a:r>
              <a:rPr lang="en-US" dirty="0"/>
              <a:t>Additional Data Mining from additional sources</a:t>
            </a:r>
          </a:p>
          <a:p>
            <a:r>
              <a:rPr lang="en-US" dirty="0"/>
              <a:t>Vector Storage in Database</a:t>
            </a:r>
          </a:p>
          <a:p>
            <a:r>
              <a:rPr lang="en-US" dirty="0"/>
              <a:t>Upgrading Similarity Check function</a:t>
            </a:r>
          </a:p>
          <a:p>
            <a:r>
              <a:rPr lang="en-US" dirty="0"/>
              <a:t>Generating Reports based on Claims</a:t>
            </a:r>
            <a:endParaRPr lang="en-S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756161-BC06-9C45-5C37-99A637BDD0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217725"/>
            <a:ext cx="737315" cy="7373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C2EFD5-9109-0A8E-9137-2624C2E6E3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06" b="89877" l="8436" r="92542">
                        <a14:foregroundMark x1="8436" y1="50615" x2="8436" y2="50615"/>
                        <a14:foregroundMark x1="18781" y1="15980" x2="18781" y2="15980"/>
                        <a14:foregroundMark x1="34038" y1="39696" x2="34038" y2="39696"/>
                        <a14:foregroundMark x1="38040" y1="34490" x2="38040" y2="34490"/>
                        <a14:foregroundMark x1="46589" y1="26392" x2="46589" y2="26392"/>
                        <a14:foregroundMark x1="54388" y1="29863" x2="54388" y2="29863"/>
                        <a14:foregroundMark x1="61301" y1="30441" x2="61301" y2="30441"/>
                        <a14:foregroundMark x1="69850" y1="33912" x2="69850" y2="33912"/>
                        <a14:foregroundMark x1="77103" y1="31598" x2="77103" y2="31598"/>
                        <a14:foregroundMark x1="80377" y1="29863" x2="80377" y2="29863"/>
                        <a14:foregroundMark x1="88199" y1="29863" x2="88199" y2="29863"/>
                        <a14:foregroundMark x1="92542" y1="25235" x2="92542" y2="25235"/>
                        <a14:foregroundMark x1="63120" y1="20029" x2="63120" y2="20029"/>
                        <a14:foregroundMark x1="64575" y1="20029" x2="64575" y2="20029"/>
                        <a14:foregroundMark x1="40950" y1="20029" x2="40950" y2="20029"/>
                        <a14:foregroundMark x1="39495" y1="20029" x2="39495" y2="20029"/>
                        <a14:foregroundMark x1="31878" y1="56978" x2="31878" y2="56978"/>
                        <a14:foregroundMark x1="39131" y1="57556" x2="39131" y2="57556"/>
                        <a14:foregroundMark x1="46953" y1="59291" x2="46953" y2="59291"/>
                        <a14:foregroundMark x1="51501" y1="61605" x2="51501" y2="61605"/>
                        <a14:foregroundMark x1="58026" y1="61605" x2="58026" y2="61605"/>
                        <a14:foregroundMark x1="65302" y1="61027" x2="65302" y2="61027"/>
                        <a14:foregroundMark x1="72374" y1="59870" x2="72374" y2="59870"/>
                        <a14:foregroundMark x1="79104" y1="61027" x2="79104" y2="61027"/>
                        <a14:foregroundMark x1="84015" y1="61027" x2="84015" y2="61027"/>
                        <a14:foregroundMark x1="90723" y1="63341" x2="90723" y2="633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8960" y="203200"/>
            <a:ext cx="1310640" cy="41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436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496E5-106B-AC69-7786-D9191C5CE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 Used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F2781-0CCD-B472-407D-254C8F43D13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Frontend: HTML + CSS</a:t>
            </a:r>
          </a:p>
          <a:p>
            <a:r>
              <a:rPr lang="en-US" dirty="0"/>
              <a:t>Backend: Python Flask API</a:t>
            </a:r>
          </a:p>
          <a:p>
            <a:r>
              <a:rPr lang="en-US" dirty="0"/>
              <a:t>Database: Firebase (NoSQL)</a:t>
            </a:r>
          </a:p>
          <a:p>
            <a:r>
              <a:rPr lang="en-US" dirty="0"/>
              <a:t>Sources: US Patent Office Database</a:t>
            </a:r>
          </a:p>
          <a:p>
            <a:r>
              <a:rPr lang="en-US" dirty="0"/>
              <a:t>LLM Integrations: Gemini, OpenAI</a:t>
            </a:r>
            <a:endParaRPr lang="en-S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26AB94-A197-4648-1E07-FA5FE0459D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217725"/>
            <a:ext cx="737315" cy="7373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889678-AACB-36D1-4884-07970A1020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06" b="89877" l="8436" r="92542">
                        <a14:foregroundMark x1="8436" y1="50615" x2="8436" y2="50615"/>
                        <a14:foregroundMark x1="18781" y1="15980" x2="18781" y2="15980"/>
                        <a14:foregroundMark x1="34038" y1="39696" x2="34038" y2="39696"/>
                        <a14:foregroundMark x1="38040" y1="34490" x2="38040" y2="34490"/>
                        <a14:foregroundMark x1="46589" y1="26392" x2="46589" y2="26392"/>
                        <a14:foregroundMark x1="54388" y1="29863" x2="54388" y2="29863"/>
                        <a14:foregroundMark x1="61301" y1="30441" x2="61301" y2="30441"/>
                        <a14:foregroundMark x1="69850" y1="33912" x2="69850" y2="33912"/>
                        <a14:foregroundMark x1="77103" y1="31598" x2="77103" y2="31598"/>
                        <a14:foregroundMark x1="80377" y1="29863" x2="80377" y2="29863"/>
                        <a14:foregroundMark x1="88199" y1="29863" x2="88199" y2="29863"/>
                        <a14:foregroundMark x1="92542" y1="25235" x2="92542" y2="25235"/>
                        <a14:foregroundMark x1="63120" y1="20029" x2="63120" y2="20029"/>
                        <a14:foregroundMark x1="64575" y1="20029" x2="64575" y2="20029"/>
                        <a14:foregroundMark x1="40950" y1="20029" x2="40950" y2="20029"/>
                        <a14:foregroundMark x1="39495" y1="20029" x2="39495" y2="20029"/>
                        <a14:foregroundMark x1="31878" y1="56978" x2="31878" y2="56978"/>
                        <a14:foregroundMark x1="39131" y1="57556" x2="39131" y2="57556"/>
                        <a14:foregroundMark x1="46953" y1="59291" x2="46953" y2="59291"/>
                        <a14:foregroundMark x1="51501" y1="61605" x2="51501" y2="61605"/>
                        <a14:foregroundMark x1="58026" y1="61605" x2="58026" y2="61605"/>
                        <a14:foregroundMark x1="65302" y1="61027" x2="65302" y2="61027"/>
                        <a14:foregroundMark x1="72374" y1="59870" x2="72374" y2="59870"/>
                        <a14:foregroundMark x1="79104" y1="61027" x2="79104" y2="61027"/>
                        <a14:foregroundMark x1="84015" y1="61027" x2="84015" y2="61027"/>
                        <a14:foregroundMark x1="90723" y1="63341" x2="90723" y2="633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8960" y="203200"/>
            <a:ext cx="1310640" cy="41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690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F5D92-BC7B-9057-52F7-C1A84516A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chart</a:t>
            </a:r>
            <a:endParaRPr lang="en-S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69A39F-7474-AEE9-BDFF-8893A83387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953" y="1704083"/>
            <a:ext cx="9628094" cy="47019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1B79C5-14CC-64D7-975D-3744F46012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217725"/>
            <a:ext cx="737315" cy="7373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A34EE8-8465-2C15-4F0C-424E0BD5B3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06" b="89877" l="8436" r="92542">
                        <a14:foregroundMark x1="8436" y1="50615" x2="8436" y2="50615"/>
                        <a14:foregroundMark x1="18781" y1="15980" x2="18781" y2="15980"/>
                        <a14:foregroundMark x1="34038" y1="39696" x2="34038" y2="39696"/>
                        <a14:foregroundMark x1="38040" y1="34490" x2="38040" y2="34490"/>
                        <a14:foregroundMark x1="46589" y1="26392" x2="46589" y2="26392"/>
                        <a14:foregroundMark x1="54388" y1="29863" x2="54388" y2="29863"/>
                        <a14:foregroundMark x1="61301" y1="30441" x2="61301" y2="30441"/>
                        <a14:foregroundMark x1="69850" y1="33912" x2="69850" y2="33912"/>
                        <a14:foregroundMark x1="77103" y1="31598" x2="77103" y2="31598"/>
                        <a14:foregroundMark x1="80377" y1="29863" x2="80377" y2="29863"/>
                        <a14:foregroundMark x1="88199" y1="29863" x2="88199" y2="29863"/>
                        <a14:foregroundMark x1="92542" y1="25235" x2="92542" y2="25235"/>
                        <a14:foregroundMark x1="63120" y1="20029" x2="63120" y2="20029"/>
                        <a14:foregroundMark x1="64575" y1="20029" x2="64575" y2="20029"/>
                        <a14:foregroundMark x1="40950" y1="20029" x2="40950" y2="20029"/>
                        <a14:foregroundMark x1="39495" y1="20029" x2="39495" y2="20029"/>
                        <a14:foregroundMark x1="31878" y1="56978" x2="31878" y2="56978"/>
                        <a14:foregroundMark x1="39131" y1="57556" x2="39131" y2="57556"/>
                        <a14:foregroundMark x1="46953" y1="59291" x2="46953" y2="59291"/>
                        <a14:foregroundMark x1="51501" y1="61605" x2="51501" y2="61605"/>
                        <a14:foregroundMark x1="58026" y1="61605" x2="58026" y2="61605"/>
                        <a14:foregroundMark x1="65302" y1="61027" x2="65302" y2="61027"/>
                        <a14:foregroundMark x1="72374" y1="59870" x2="72374" y2="59870"/>
                        <a14:foregroundMark x1="79104" y1="61027" x2="79104" y2="61027"/>
                        <a14:foregroundMark x1="84015" y1="61027" x2="84015" y2="61027"/>
                        <a14:foregroundMark x1="90723" y1="63341" x2="90723" y2="633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8960" y="203200"/>
            <a:ext cx="1310640" cy="41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589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B25FC-AB5B-01F1-62A5-67D0437FE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Enhancements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D6AF0-8E4A-9ABC-39C5-1CD92EF26CC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Switch to </a:t>
            </a:r>
            <a:r>
              <a:rPr lang="en-US" dirty="0" err="1"/>
              <a:t>ReactJs</a:t>
            </a:r>
            <a:r>
              <a:rPr lang="en-US" dirty="0"/>
              <a:t> for Frontend</a:t>
            </a:r>
          </a:p>
          <a:p>
            <a:r>
              <a:rPr lang="en-US" dirty="0"/>
              <a:t>Add interactive Chatbot for report exploration</a:t>
            </a:r>
          </a:p>
          <a:p>
            <a:r>
              <a:rPr lang="en-US" dirty="0"/>
              <a:t>Additional Sources</a:t>
            </a:r>
          </a:p>
          <a:p>
            <a:r>
              <a:rPr lang="en-US" dirty="0"/>
              <a:t>Advanced Security and Encryption</a:t>
            </a:r>
            <a:endParaRPr lang="en-S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38B8EE-DF1E-03DF-3CC4-9AB7D05772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217725"/>
            <a:ext cx="737315" cy="7373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0ED2A8-D88E-96A8-8080-1B34974558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06" b="89877" l="8436" r="92542">
                        <a14:foregroundMark x1="8436" y1="50615" x2="8436" y2="50615"/>
                        <a14:foregroundMark x1="18781" y1="15980" x2="18781" y2="15980"/>
                        <a14:foregroundMark x1="34038" y1="39696" x2="34038" y2="39696"/>
                        <a14:foregroundMark x1="38040" y1="34490" x2="38040" y2="34490"/>
                        <a14:foregroundMark x1="46589" y1="26392" x2="46589" y2="26392"/>
                        <a14:foregroundMark x1="54388" y1="29863" x2="54388" y2="29863"/>
                        <a14:foregroundMark x1="61301" y1="30441" x2="61301" y2="30441"/>
                        <a14:foregroundMark x1="69850" y1="33912" x2="69850" y2="33912"/>
                        <a14:foregroundMark x1="77103" y1="31598" x2="77103" y2="31598"/>
                        <a14:foregroundMark x1="80377" y1="29863" x2="80377" y2="29863"/>
                        <a14:foregroundMark x1="88199" y1="29863" x2="88199" y2="29863"/>
                        <a14:foregroundMark x1="92542" y1="25235" x2="92542" y2="25235"/>
                        <a14:foregroundMark x1="63120" y1="20029" x2="63120" y2="20029"/>
                        <a14:foregroundMark x1="64575" y1="20029" x2="64575" y2="20029"/>
                        <a14:foregroundMark x1="40950" y1="20029" x2="40950" y2="20029"/>
                        <a14:foregroundMark x1="39495" y1="20029" x2="39495" y2="20029"/>
                        <a14:foregroundMark x1="31878" y1="56978" x2="31878" y2="56978"/>
                        <a14:foregroundMark x1="39131" y1="57556" x2="39131" y2="57556"/>
                        <a14:foregroundMark x1="46953" y1="59291" x2="46953" y2="59291"/>
                        <a14:foregroundMark x1="51501" y1="61605" x2="51501" y2="61605"/>
                        <a14:foregroundMark x1="58026" y1="61605" x2="58026" y2="61605"/>
                        <a14:foregroundMark x1="65302" y1="61027" x2="65302" y2="61027"/>
                        <a14:foregroundMark x1="72374" y1="59870" x2="72374" y2="59870"/>
                        <a14:foregroundMark x1="79104" y1="61027" x2="79104" y2="61027"/>
                        <a14:foregroundMark x1="84015" y1="61027" x2="84015" y2="61027"/>
                        <a14:foregroundMark x1="90723" y1="63341" x2="90723" y2="633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8960" y="203200"/>
            <a:ext cx="1310640" cy="41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589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5FD49-91DE-C5CF-C087-EC894A4A9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2630912"/>
            <a:ext cx="10364451" cy="1596177"/>
          </a:xfrm>
        </p:spPr>
        <p:txBody>
          <a:bodyPr/>
          <a:lstStyle/>
          <a:p>
            <a:r>
              <a:rPr lang="en-US" dirty="0"/>
              <a:t>Thank You</a:t>
            </a:r>
            <a:endParaRPr lang="en-S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E565C5-F5F5-F436-C8AA-1FEE4B68D2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217725"/>
            <a:ext cx="737315" cy="7373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F88EE5-5D76-EE59-0AD7-FE0BFA7713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06" b="89877" l="8436" r="92542">
                        <a14:foregroundMark x1="8436" y1="50615" x2="8436" y2="50615"/>
                        <a14:foregroundMark x1="18781" y1="15980" x2="18781" y2="15980"/>
                        <a14:foregroundMark x1="34038" y1="39696" x2="34038" y2="39696"/>
                        <a14:foregroundMark x1="38040" y1="34490" x2="38040" y2="34490"/>
                        <a14:foregroundMark x1="46589" y1="26392" x2="46589" y2="26392"/>
                        <a14:foregroundMark x1="54388" y1="29863" x2="54388" y2="29863"/>
                        <a14:foregroundMark x1="61301" y1="30441" x2="61301" y2="30441"/>
                        <a14:foregroundMark x1="69850" y1="33912" x2="69850" y2="33912"/>
                        <a14:foregroundMark x1="77103" y1="31598" x2="77103" y2="31598"/>
                        <a14:foregroundMark x1="80377" y1="29863" x2="80377" y2="29863"/>
                        <a14:foregroundMark x1="88199" y1="29863" x2="88199" y2="29863"/>
                        <a14:foregroundMark x1="92542" y1="25235" x2="92542" y2="25235"/>
                        <a14:foregroundMark x1="63120" y1="20029" x2="63120" y2="20029"/>
                        <a14:foregroundMark x1="64575" y1="20029" x2="64575" y2="20029"/>
                        <a14:foregroundMark x1="40950" y1="20029" x2="40950" y2="20029"/>
                        <a14:foregroundMark x1="39495" y1="20029" x2="39495" y2="20029"/>
                        <a14:foregroundMark x1="31878" y1="56978" x2="31878" y2="56978"/>
                        <a14:foregroundMark x1="39131" y1="57556" x2="39131" y2="57556"/>
                        <a14:foregroundMark x1="46953" y1="59291" x2="46953" y2="59291"/>
                        <a14:foregroundMark x1="51501" y1="61605" x2="51501" y2="61605"/>
                        <a14:foregroundMark x1="58026" y1="61605" x2="58026" y2="61605"/>
                        <a14:foregroundMark x1="65302" y1="61027" x2="65302" y2="61027"/>
                        <a14:foregroundMark x1="72374" y1="59870" x2="72374" y2="59870"/>
                        <a14:foregroundMark x1="79104" y1="61027" x2="79104" y2="61027"/>
                        <a14:foregroundMark x1="84015" y1="61027" x2="84015" y2="61027"/>
                        <a14:foregroundMark x1="90723" y1="63341" x2="90723" y2="633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8960" y="203200"/>
            <a:ext cx="1310640" cy="41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932992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1140</TotalTime>
  <Words>296</Words>
  <Application>Microsoft Office PowerPoint</Application>
  <PresentationFormat>Widescreen</PresentationFormat>
  <Paragraphs>54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Tw Cen MT</vt:lpstr>
      <vt:lpstr>Droplet</vt:lpstr>
      <vt:lpstr>Intelligent Patent Management System with Automated Similarity Analysis</vt:lpstr>
      <vt:lpstr>Problem Statement</vt:lpstr>
      <vt:lpstr>Motivation</vt:lpstr>
      <vt:lpstr>System Architecture</vt:lpstr>
      <vt:lpstr>Core Features</vt:lpstr>
      <vt:lpstr>Currently in Progress</vt:lpstr>
      <vt:lpstr>Technologies Used</vt:lpstr>
      <vt:lpstr>Flow chart</vt:lpstr>
      <vt:lpstr>Future Enhancements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Punnoose K Thomas</dc:creator>
  <cp:lastModifiedBy>Punnoose K Thomas</cp:lastModifiedBy>
  <cp:revision>5</cp:revision>
  <dcterms:created xsi:type="dcterms:W3CDTF">2025-12-10T22:36:08Z</dcterms:created>
  <dcterms:modified xsi:type="dcterms:W3CDTF">2025-12-15T09:20:40Z</dcterms:modified>
</cp:coreProperties>
</file>